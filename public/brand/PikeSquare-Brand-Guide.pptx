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9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777240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pic>
        <p:nvPicPr>
          <p:cNvPr id="3" name="Image 0" descr="/Users/susanbamberger/Development/pikesquare-site/public/brand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594360"/>
            <a:ext cx="210312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1945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Guide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548640" y="3154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B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PikeSquare looks, sounds, and shows up.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7AB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PikeSquare · pikesquare.co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0" y="4572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A7AB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v1 · 2026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275320" y="548640"/>
            <a:ext cx="320040" cy="320040"/>
          </a:xfrm>
          <a:prstGeom prst="rect">
            <a:avLst/>
          </a:prstGeom>
          <a:solidFill>
            <a:srgbClr val="FF8001"/>
          </a:solidFill>
          <a:ln w="12700">
            <a:solidFill>
              <a:srgbClr val="FF800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8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 a senior operator who's been there.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Confident, direct, plain-spoken. Not a brochure. We take positions, use plain English, keep sentences short, and lean on the em dash.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9319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A7AB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0D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with a point of view. Take a position.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0D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plain English. 'Helps close more deals,' not 'drives revenue acceleration.'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0D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sentences short. Em dashes are a feature.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0D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like you'd talk to a CEO over coffee.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2286000"/>
            <a:ext cx="39319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A7AB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021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92040" y="27432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0D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Pile on adjectives ('world-class, best-in-breed').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0D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Hedge. ('It can sometimes be the case that…')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0D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buzzwords without a concrete claim behind them.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0D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 to passive voice.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480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8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SAMPLES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"Senior GTM operators for startups and scale-ups."   ·   "Price is your fair share of the value you create."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8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primary wordmark by default. Square lockup for avatars and tiles. Icon alone only when the wordmark won't fit.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5603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7ABC7"/>
            </a:solidFill>
            <a:prstDash val="solid"/>
          </a:ln>
        </p:spPr>
      </p:sp>
      <p:pic>
        <p:nvPicPr>
          <p:cNvPr id="6" name="Image 0" descr="/Users/susanbamberger/Development/pikesquare-site/public/brand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2560320"/>
            <a:ext cx="182880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wordmark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4114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/brand/logo.png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91840" y="2240280"/>
            <a:ext cx="25603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7ABC7"/>
            </a:solidFill>
            <a:prstDash val="solid"/>
          </a:ln>
        </p:spPr>
      </p:sp>
      <p:pic>
        <p:nvPicPr>
          <p:cNvPr id="10" name="Image 1" descr="/Users/susanbamberger/Development/pikesquare-site/public/brand/logo-squar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0" y="2560320"/>
            <a:ext cx="1828800" cy="10972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472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Square lockup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474720" y="4114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/brand/logo-square.png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035040" y="2240280"/>
            <a:ext cx="25603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7ABC7"/>
            </a:solidFill>
            <a:prstDash val="solid"/>
          </a:ln>
        </p:spPr>
      </p:sp>
      <p:pic>
        <p:nvPicPr>
          <p:cNvPr id="14" name="Image 2" descr="/Users/susanbamberger/Development/pikesquare-site/public/brand/icon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00800" y="2560320"/>
            <a:ext cx="1828800" cy="10972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1792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Icon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217920" y="4114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/brand/icon.png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recolor, stretch, add shadows, or place on busy photos. Clear space = height of the 'P' on all sides.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8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 · PRIMARY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+ Accent is the brand.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else is supporting. Use these four for primary UI surfaces.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76072" y="2148840"/>
            <a:ext cx="1874520" cy="1188720"/>
          </a:xfrm>
          <a:prstGeom prst="rect">
            <a:avLst/>
          </a:prstGeom>
          <a:solidFill>
            <a:srgbClr val="202971"/>
          </a:solidFill>
          <a:ln w="12700">
            <a:solidFill>
              <a:srgbClr val="A7AB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" y="3337560"/>
            <a:ext cx="187452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A7AB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3017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34290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#202971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3232" y="37033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navy. Wordmark, headlines,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buttons.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15184" y="2148840"/>
            <a:ext cx="1874520" cy="1188720"/>
          </a:xfrm>
          <a:prstGeom prst="rect">
            <a:avLst/>
          </a:prstGeom>
          <a:solidFill>
            <a:srgbClr val="FF8001"/>
          </a:solidFill>
          <a:ln w="12700">
            <a:solidFill>
              <a:srgbClr val="A7AB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15184" y="3337560"/>
            <a:ext cx="187452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A7AB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52344" y="3017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52344" y="34290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#FF8001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52344" y="37033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orange. Mark, hover states,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callouts, emphasis.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54296" y="2148840"/>
            <a:ext cx="1874520" cy="1188720"/>
          </a:xfrm>
          <a:prstGeom prst="rect">
            <a:avLst/>
          </a:prstGeom>
          <a:solidFill>
            <a:srgbClr val="210D10"/>
          </a:solidFill>
          <a:ln w="12700">
            <a:solidFill>
              <a:srgbClr val="A7AB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54296" y="3337560"/>
            <a:ext cx="187452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A7AB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3017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91456" y="34290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#210D10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91456" y="37033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Near-black body text.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93408" y="2148840"/>
            <a:ext cx="1874520" cy="1188720"/>
          </a:xfrm>
          <a:prstGeom prst="rect">
            <a:avLst/>
          </a:prstGeom>
          <a:solidFill>
            <a:srgbClr val="FAFAF7"/>
          </a:solidFill>
          <a:ln w="6350">
            <a:solidFill>
              <a:srgbClr val="A7AB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93408" y="3337560"/>
            <a:ext cx="187452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A7AB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0568" y="3017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0D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30568" y="34290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#FAFAF7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30568" y="37033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Warm off-white. Default page background.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8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 · SUPPORTING &amp; EDITORIAL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Supporting &amp; editorial palette.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Tints for soft surfaces, plus three editorial-only colors for charts and illustration.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84632" y="2331720"/>
            <a:ext cx="1920240" cy="960120"/>
          </a:xfrm>
          <a:prstGeom prst="rect">
            <a:avLst/>
          </a:prstGeom>
          <a:solidFill>
            <a:srgbClr val="594E86"/>
          </a:solidFill>
          <a:ln w="6350">
            <a:solidFill>
              <a:srgbClr val="A7AB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2697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#594E86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792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 body text.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9464" y="2331720"/>
            <a:ext cx="1920240" cy="960120"/>
          </a:xfrm>
          <a:prstGeom prst="rect">
            <a:avLst/>
          </a:prstGeom>
          <a:solidFill>
            <a:srgbClr val="A7ABC7"/>
          </a:solidFill>
          <a:ln w="6350">
            <a:solidFill>
              <a:srgbClr val="A7AB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06624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0D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soft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06624" y="2697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10D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#A7ABC7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06624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0D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Tinted backgrounds, chips.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54296" y="2331720"/>
            <a:ext cx="1920240" cy="960120"/>
          </a:xfrm>
          <a:prstGeom prst="rect">
            <a:avLst/>
          </a:prstGeom>
          <a:solidFill>
            <a:srgbClr val="FFBB8A"/>
          </a:solidFill>
          <a:ln w="6350">
            <a:solidFill>
              <a:srgbClr val="A7AB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91456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0D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Accent soft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91456" y="2697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10D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#FFBB8A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91456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0D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 callouts.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39128" y="2331720"/>
            <a:ext cx="1920240" cy="960120"/>
          </a:xfrm>
          <a:prstGeom prst="rect">
            <a:avLst/>
          </a:prstGeom>
          <a:solidFill>
            <a:srgbClr val="938CB1"/>
          </a:solidFill>
          <a:ln w="6350">
            <a:solidFill>
              <a:srgbClr val="A7AB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76288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0D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Muted soft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76288" y="2697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10D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#938CB1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76288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0D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Tertiary text, placeholders.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3520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EDITORIAL / DATA VIZ ONLY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0060" y="3794760"/>
            <a:ext cx="2606040" cy="960120"/>
          </a:xfrm>
          <a:prstGeom prst="rect">
            <a:avLst/>
          </a:prstGeom>
          <a:solidFill>
            <a:srgbClr val="802101"/>
          </a:solidFill>
          <a:ln w="6350">
            <a:solidFill>
              <a:srgbClr val="A7AB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" y="3931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Rust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2940" y="4297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#802101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68980" y="3794760"/>
            <a:ext cx="2606040" cy="960120"/>
          </a:xfrm>
          <a:prstGeom prst="rect">
            <a:avLst/>
          </a:prstGeom>
          <a:solidFill>
            <a:srgbClr val="FFDB01"/>
          </a:solidFill>
          <a:ln w="6350">
            <a:solidFill>
              <a:srgbClr val="A7AB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51860" y="3931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0D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51860" y="4297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210D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#FFDB01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57900" y="3794760"/>
            <a:ext cx="2606040" cy="960120"/>
          </a:xfrm>
          <a:prstGeom prst="rect">
            <a:avLst/>
          </a:prstGeom>
          <a:solidFill>
            <a:srgbClr val="3F94B2"/>
          </a:solidFill>
          <a:ln w="6350">
            <a:solidFill>
              <a:srgbClr val="A7AB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40780" y="3931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40780" y="4297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#3F94B2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49377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use Rust / Sun / Sea in primary UI. They exist for charts and editorial illustration only.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8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— that's it.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typeface across the brand. Weights from regular (400) to extrabold (800).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8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H1 · HERO HEADLINE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Senior GTM operators.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8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H2 · SECTION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actually do.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8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LEAD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3931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Plain language. Real sentences.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43434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8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4526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0D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 body. Near-black ink on warm off-white. Comfortable line height.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78040" y="2057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8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178040" y="2331720"/>
            <a:ext cx="14173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A7AB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69480" y="236829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863840" y="24231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 · Regular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63840" y="26517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178040" y="3008376"/>
            <a:ext cx="14173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A7AB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9480" y="304495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863840" y="309981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600 · Semibold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63840" y="332841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emphasis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178040" y="3685032"/>
            <a:ext cx="14173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A7AB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69480" y="372160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863840" y="377647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700 · Bold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863840" y="400507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heads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78040" y="4361688"/>
            <a:ext cx="14173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A7AB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439826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863840" y="44531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800 · Extrabold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863840" y="46817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Headlines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8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patterns.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brand surfaces show up on the site. Same shapes, same spacing, everywhere.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93192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A7AB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31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CTA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274320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202971"/>
          </a:solidFill>
          <a:ln w="12700">
            <a:solidFill>
              <a:srgbClr val="2029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7432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 a meeting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31720" y="27980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Hover turns orange.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2194560"/>
            <a:ext cx="393192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A7AB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2331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EYEBROW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92040" y="2697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8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title.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39319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A7AB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749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7240" y="4023360"/>
            <a:ext cx="3474720" cy="822960"/>
          </a:xfrm>
          <a:prstGeom prst="rect">
            <a:avLst/>
          </a:prstGeom>
          <a:solidFill>
            <a:srgbClr val="FAFAF7"/>
          </a:solidFill>
          <a:ln w="6350">
            <a:solidFill>
              <a:srgbClr val="A7AB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114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8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ARTICLE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4400" y="4315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Defense of CAC/LTV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4572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CAC/LTV is messy and indispensable.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3611880"/>
            <a:ext cx="39319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A7AB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749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BULLET LIST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92040" y="4142232"/>
            <a:ext cx="91440" cy="91440"/>
          </a:xfrm>
          <a:prstGeom prst="rect">
            <a:avLst/>
          </a:prstGeom>
          <a:solidFill>
            <a:srgbClr val="FF8001"/>
          </a:solidFill>
          <a:ln w="12700">
            <a:solidFill>
              <a:srgbClr val="FF800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40690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0D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Square orange bullet — the mark in miniature.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92040" y="4416552"/>
            <a:ext cx="91440" cy="91440"/>
          </a:xfrm>
          <a:prstGeom prst="rect">
            <a:avLst/>
          </a:prstGeom>
          <a:solidFill>
            <a:srgbClr val="FF8001"/>
          </a:solidFill>
          <a:ln w="12700">
            <a:solidFill>
              <a:srgbClr val="FF800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43434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0D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Tight gap, comfortable line height.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4690872"/>
            <a:ext cx="91440" cy="91440"/>
          </a:xfrm>
          <a:prstGeom prst="rect">
            <a:avLst/>
          </a:prstGeom>
          <a:solidFill>
            <a:srgbClr val="FF8001"/>
          </a:solidFill>
          <a:ln w="12700">
            <a:solidFill>
              <a:srgbClr val="FF800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46177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0D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on landing pages and cards.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8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Plain, no banner image.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format for everyone. Update names and titles per person — keep the rest verbatim.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" y="2194560"/>
            <a:ext cx="69494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A7AB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42316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029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Susan McGovern Bamberger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10D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Co-founder · PikeSquare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info@pikesquare.co · pikesquare.co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80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 a meeting: https://cal.com/pikesquare/30min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069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94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banner image, no logo, no quotes block. Single space between lines.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029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B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brand lives in code.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AB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once — propagates everywhere.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73152" cy="228600"/>
          </a:xfrm>
          <a:prstGeom prst="rect">
            <a:avLst/>
          </a:prstGeom>
          <a:solidFill>
            <a:srgbClr val="FF8001"/>
          </a:solidFill>
          <a:ln w="12700">
            <a:solidFill>
              <a:srgbClr val="FF800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BRAND.md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908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B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document. Source of truth. Update when the brand evolves.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73152" cy="228600"/>
          </a:xfrm>
          <a:prstGeom prst="rect">
            <a:avLst/>
          </a:prstGeom>
          <a:solidFill>
            <a:srgbClr val="FF8001"/>
          </a:solidFill>
          <a:ln w="12700">
            <a:solidFill>
              <a:srgbClr val="FF800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23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src/styles/globals.css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9080" y="2423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B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 and font tokens. Tailwind theme block.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73152" cy="228600"/>
          </a:xfrm>
          <a:prstGeom prst="rect">
            <a:avLst/>
          </a:prstGeom>
          <a:solidFill>
            <a:srgbClr val="FF8001"/>
          </a:solidFill>
          <a:ln w="12700">
            <a:solidFill>
              <a:srgbClr val="FF800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834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public/brand/*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6908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B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files: logo.png · logo-square.png · icon.png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73152" cy="228600"/>
          </a:xfrm>
          <a:prstGeom prst="rect">
            <a:avLst/>
          </a:prstGeom>
          <a:solidFill>
            <a:srgbClr val="FF8001"/>
          </a:solidFill>
          <a:ln w="12700">
            <a:solidFill>
              <a:srgbClr val="FF800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246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src/layouts/BaseLayout.astro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6908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B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shell, font loading, head meta.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73152" cy="228600"/>
          </a:xfrm>
          <a:prstGeom prst="rect">
            <a:avLst/>
          </a:prstGeom>
          <a:solidFill>
            <a:srgbClr val="FF8001"/>
          </a:solidFill>
          <a:ln w="12700">
            <a:solidFill>
              <a:srgbClr val="FF800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src/lib/site.ts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6908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B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values: scheduling URL, contact email.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73152" cy="228600"/>
          </a:xfrm>
          <a:prstGeom prst="rect">
            <a:avLst/>
          </a:prstGeom>
          <a:solidFill>
            <a:srgbClr val="FF8001"/>
          </a:solidFill>
          <a:ln w="12700">
            <a:solidFill>
              <a:srgbClr val="FF800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src/components/CTAButton.astro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6908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B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CTA component.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B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pikesquare.co · brand @ v1 ·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PikeSquare Brand Guide</dc:title>
  <dc:subject>PptxGenJS Presentation</dc:subject>
  <dc:creator>PikeSquare</dc:creator>
  <cp:lastModifiedBy>PikeSquare</cp:lastModifiedBy>
  <cp:revision>1</cp:revision>
  <dcterms:created xsi:type="dcterms:W3CDTF">2026-06-03T23:45:21Z</dcterms:created>
  <dcterms:modified xsi:type="dcterms:W3CDTF">2026-06-03T23:45:21Z</dcterms:modified>
</cp:coreProperties>
</file>